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6668C-8903-4855-89CE-34AB4EFFAE31}" v="22" dt="2026-04-23T08:53:28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A0CCB4-980A-95DF-20CA-8A95201910E0}"/>
              </a:ext>
            </a:extLst>
          </p:cNvPr>
          <p:cNvSpPr txBox="1"/>
          <p:nvPr/>
        </p:nvSpPr>
        <p:spPr>
          <a:xfrm>
            <a:off x="584200" y="584200"/>
            <a:ext cx="109855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dirty="0">
                <a:ea typeface="ＭＳ Ｐゴシック"/>
              </a:rPr>
              <a:t>「</a:t>
            </a:r>
            <a:r>
              <a:rPr lang="en-US" altLang="ja-JP" sz="4000" dirty="0" err="1">
                <a:solidFill>
                  <a:schemeClr val="accent3"/>
                </a:solidFill>
                <a:ea typeface="ＭＳ Ｐゴシック"/>
              </a:rPr>
              <a:t>D</a:t>
            </a:r>
            <a:r>
              <a:rPr lang="en-US" altLang="ja-JP" sz="2800" dirty="0" err="1">
                <a:ea typeface="ＭＳ Ｐゴシック"/>
              </a:rPr>
              <a:t>ot</a:t>
            </a:r>
            <a:r>
              <a:rPr lang="en-US" altLang="ja-JP" sz="4000" dirty="0" err="1">
                <a:solidFill>
                  <a:schemeClr val="accent3"/>
                </a:solidFill>
                <a:ea typeface="ＭＳ Ｐゴシック"/>
              </a:rPr>
              <a:t>D</a:t>
            </a:r>
            <a:r>
              <a:rPr lang="en-US" altLang="ja-JP" sz="2800" dirty="0" err="1">
                <a:ea typeface="ＭＳ Ｐゴシック"/>
              </a:rPr>
              <a:t>eck</a:t>
            </a:r>
            <a:r>
              <a:rPr lang="en-US" altLang="ja-JP" sz="4000" dirty="0" err="1">
                <a:solidFill>
                  <a:schemeClr val="accent3"/>
                </a:solidFill>
                <a:ea typeface="ＭＳ Ｐゴシック"/>
              </a:rPr>
              <a:t>T</a:t>
            </a:r>
            <a:r>
              <a:rPr lang="en-US" altLang="ja-JP" sz="2800" dirty="0" err="1">
                <a:ea typeface="ＭＳ Ｐゴシック"/>
              </a:rPr>
              <a:t>actics</a:t>
            </a:r>
            <a:r>
              <a:rPr lang="ja-JP" altLang="en-US" sz="4000" dirty="0">
                <a:ea typeface="ＭＳ Ｐゴシック"/>
              </a:rPr>
              <a:t>」の企画書</a:t>
            </a:r>
            <a:endParaRPr lang="en-US" sz="3200" dirty="0">
              <a:ea typeface="ＭＳ Ｐゴシック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7E032-3471-6587-FE84-9ABD6293795E}"/>
              </a:ext>
            </a:extLst>
          </p:cNvPr>
          <p:cNvSpPr txBox="1"/>
          <p:nvPr/>
        </p:nvSpPr>
        <p:spPr>
          <a:xfrm>
            <a:off x="673100" y="2311400"/>
            <a:ext cx="108966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 dirty="0">
                <a:ea typeface="ＭＳ Ｐゴシック"/>
              </a:rPr>
              <a:t>コンセプトは</a:t>
            </a:r>
            <a:endParaRPr lang="en-US" altLang="ja-JP" sz="3600" dirty="0">
              <a:ea typeface="ＭＳ Ｐゴシック"/>
            </a:endParaRPr>
          </a:p>
          <a:p>
            <a:endParaRPr lang="ja-JP" altLang="en-US" sz="3600" dirty="0">
              <a:ea typeface="ＭＳ Ｐゴシック"/>
            </a:endParaRPr>
          </a:p>
          <a:p>
            <a:r>
              <a:rPr lang="ja-JP" altLang="en-US" sz="7200" dirty="0">
                <a:ea typeface="ＭＳ Ｐゴシック"/>
              </a:rPr>
              <a:t>デッキ編集×２Dアクション</a:t>
            </a: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F3790B-68F1-D28D-F0B6-076306CB0083}"/>
              </a:ext>
            </a:extLst>
          </p:cNvPr>
          <p:cNvSpPr txBox="1"/>
          <p:nvPr/>
        </p:nvSpPr>
        <p:spPr>
          <a:xfrm>
            <a:off x="1027288" y="3047500"/>
            <a:ext cx="107583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ターゲット層</a:t>
            </a:r>
            <a:r>
              <a:rPr lang="ja-JP" altLang="en-US" sz="4000" b="1" dirty="0"/>
              <a:t>：</a:t>
            </a:r>
            <a:endParaRPr lang="en-US" altLang="ja-JP" sz="4000" b="1" dirty="0"/>
          </a:p>
          <a:p>
            <a:r>
              <a:rPr lang="ja-JP" altLang="en-US" sz="4000" dirty="0"/>
              <a:t>アクションゲームも楽しむスレスパユーザー</a:t>
            </a:r>
            <a:endParaRPr kumimoji="1" lang="ja-JP" altLang="en-US" sz="4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AE47D1-5A0F-B150-5500-439602F66885}"/>
              </a:ext>
            </a:extLst>
          </p:cNvPr>
          <p:cNvSpPr txBox="1"/>
          <p:nvPr/>
        </p:nvSpPr>
        <p:spPr>
          <a:xfrm>
            <a:off x="1027289" y="4788861"/>
            <a:ext cx="109840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ゲーム全体におけるアクションゲームの収益が</a:t>
            </a:r>
            <a:r>
              <a:rPr kumimoji="1" lang="ja-JP" altLang="en-US" sz="3600" dirty="0">
                <a:solidFill>
                  <a:srgbClr val="FF0000"/>
                </a:solidFill>
              </a:rPr>
              <a:t>約５８％</a:t>
            </a:r>
            <a:endParaRPr kumimoji="1" lang="en-US" altLang="ja-JP" sz="3600" dirty="0">
              <a:solidFill>
                <a:srgbClr val="FF0000"/>
              </a:solidFill>
            </a:endParaRPr>
          </a:p>
          <a:p>
            <a:r>
              <a:rPr lang="ja-JP" altLang="en-US" sz="2800" dirty="0"/>
              <a:t>スレイザスパイア２の売り上げが</a:t>
            </a:r>
            <a:r>
              <a:rPr lang="ja-JP" altLang="en-US" sz="3600" dirty="0">
                <a:solidFill>
                  <a:srgbClr val="FF0000"/>
                </a:solidFill>
              </a:rPr>
              <a:t>約３００万本</a:t>
            </a:r>
            <a:endParaRPr lang="en-US" altLang="ja-JP" sz="3600" dirty="0">
              <a:solidFill>
                <a:srgbClr val="FF0000"/>
              </a:solidFill>
            </a:endParaRPr>
          </a:p>
          <a:p>
            <a:r>
              <a:rPr lang="ja-JP" altLang="en-US" sz="2800" dirty="0"/>
              <a:t>よって</a:t>
            </a:r>
            <a:r>
              <a:rPr kumimoji="1" lang="ja-JP" altLang="en-US" sz="3600" dirty="0">
                <a:solidFill>
                  <a:srgbClr val="FF0000"/>
                </a:solidFill>
              </a:rPr>
              <a:t>約</a:t>
            </a:r>
            <a:r>
              <a:rPr lang="ja-JP" altLang="en-US" sz="3600" dirty="0">
                <a:solidFill>
                  <a:srgbClr val="FF0000"/>
                </a:solidFill>
              </a:rPr>
              <a:t>１７４万本</a:t>
            </a:r>
            <a:r>
              <a:rPr lang="ja-JP" altLang="en-US" sz="2800" dirty="0"/>
              <a:t>買うだろうと推測できる</a:t>
            </a:r>
            <a:endParaRPr kumimoji="1" lang="ja-JP" altLang="en-US" sz="2800" dirty="0"/>
          </a:p>
        </p:txBody>
      </p:sp>
      <p:pic>
        <p:nvPicPr>
          <p:cNvPr id="1026" name="Picture 2" descr="スレスパ2攻略wiki｜Slay the Spire 2 - 神ゲー攻略">
            <a:extLst>
              <a:ext uri="{FF2B5EF4-FFF2-40B4-BE49-F238E27FC236}">
                <a16:creationId xmlns:a16="http://schemas.microsoft.com/office/drawing/2014/main" id="{C3890B37-D38B-A04A-6565-D6D6BD5AF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64" y="192616"/>
            <a:ext cx="5221113" cy="292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24B9A3D-43EC-1FEC-B542-C1212A42C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8" y="179563"/>
            <a:ext cx="5221112" cy="293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2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DA3595-42EA-6C5F-6F8F-4BD20A1A0419}"/>
              </a:ext>
            </a:extLst>
          </p:cNvPr>
          <p:cNvSpPr txBox="1"/>
          <p:nvPr/>
        </p:nvSpPr>
        <p:spPr>
          <a:xfrm>
            <a:off x="554868" y="956205"/>
            <a:ext cx="1123461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400" dirty="0">
                <a:ea typeface="ＭＳ Ｐゴシック"/>
              </a:rPr>
              <a:t>山札から引いたカードを手札で合成させて</a:t>
            </a:r>
            <a:endParaRPr lang="en-US" altLang="ja-JP" sz="4400" dirty="0">
              <a:ea typeface="ＭＳ Ｐゴシック"/>
            </a:endParaRPr>
          </a:p>
          <a:p>
            <a:r>
              <a:rPr lang="ja-JP" altLang="en-US" sz="4400" dirty="0">
                <a:ea typeface="ＭＳ Ｐゴシック"/>
              </a:rPr>
              <a:t>より強いカードに進化させよう！</a:t>
            </a:r>
            <a:endParaRPr lang="en-US" altLang="ja-JP" sz="4400" dirty="0">
              <a:ea typeface="ＭＳ Ｐゴシック"/>
            </a:endParaRPr>
          </a:p>
          <a:p>
            <a:pPr algn="l"/>
            <a:endParaRPr lang="ja-JP" altLang="en-US" sz="3200" dirty="0">
              <a:ea typeface="ＭＳ Ｐゴシック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2C9A6-DF91-4D05-E852-BAFCE2460535}"/>
              </a:ext>
            </a:extLst>
          </p:cNvPr>
          <p:cNvSpPr txBox="1"/>
          <p:nvPr/>
        </p:nvSpPr>
        <p:spPr>
          <a:xfrm>
            <a:off x="554868" y="2759730"/>
            <a:ext cx="11390576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400" dirty="0">
                <a:ea typeface="ＭＳ Ｐゴシック"/>
              </a:rPr>
              <a:t>カードはいざという時の必殺技として使えるぞ！</a:t>
            </a:r>
            <a:endParaRPr lang="en-US" altLang="ja-JP" sz="4400" dirty="0">
              <a:ea typeface="ＭＳ Ｐゴシック"/>
            </a:endParaRPr>
          </a:p>
          <a:p>
            <a:r>
              <a:rPr lang="ja-JP" altLang="en-US" sz="4000" dirty="0">
                <a:ea typeface="ＭＳ Ｐゴシック"/>
              </a:rPr>
              <a:t>しかし、一度使ってしまうと捨てられるから要注意！</a:t>
            </a:r>
          </a:p>
          <a:p>
            <a:r>
              <a:rPr lang="ja-JP" altLang="en-US" sz="3200" dirty="0"/>
              <a:t>例）星１のファイアーボールと星１のファイアーボールで星２のファイアーボールに！　威力と射程がアップ！</a:t>
            </a:r>
          </a:p>
          <a:p>
            <a:pPr algn="l"/>
            <a:endParaRPr 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CDEEA4-2F12-DA15-4E11-484302B4D5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781" y="5522686"/>
            <a:ext cx="1335314" cy="133531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3CE76A6-44F6-5C98-F6CF-C8A698940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79" y="5522686"/>
            <a:ext cx="1335314" cy="133531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3CB9683-55BE-740A-8B84-70F69AA63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006" y="4599418"/>
            <a:ext cx="2258582" cy="2258582"/>
          </a:xfrm>
          <a:prstGeom prst="rect">
            <a:avLst/>
          </a:prstGeom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3686079B-D8D2-375B-C3A6-4746DF10979A}"/>
              </a:ext>
            </a:extLst>
          </p:cNvPr>
          <p:cNvSpPr/>
          <p:nvPr/>
        </p:nvSpPr>
        <p:spPr>
          <a:xfrm>
            <a:off x="7552267" y="5522686"/>
            <a:ext cx="1422400" cy="1242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十字形 13">
            <a:extLst>
              <a:ext uri="{FF2B5EF4-FFF2-40B4-BE49-F238E27FC236}">
                <a16:creationId xmlns:a16="http://schemas.microsoft.com/office/drawing/2014/main" id="{9562ACD7-D2DE-4FB2-570B-92F72E8D9DE5}"/>
              </a:ext>
            </a:extLst>
          </p:cNvPr>
          <p:cNvSpPr/>
          <p:nvPr/>
        </p:nvSpPr>
        <p:spPr>
          <a:xfrm>
            <a:off x="4294951" y="5715368"/>
            <a:ext cx="972779" cy="1049866"/>
          </a:xfrm>
          <a:prstGeom prst="plus">
            <a:avLst>
              <a:gd name="adj" fmla="val 40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E562433-8DE6-7BFB-B2F7-B51DBB7E62C7}"/>
              </a:ext>
            </a:extLst>
          </p:cNvPr>
          <p:cNvSpPr txBox="1"/>
          <p:nvPr/>
        </p:nvSpPr>
        <p:spPr>
          <a:xfrm>
            <a:off x="1151468" y="6488668"/>
            <a:ext cx="1335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イメージ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157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E4032-86EA-8A31-DEC6-A03CE5910A88}"/>
              </a:ext>
            </a:extLst>
          </p:cNvPr>
          <p:cNvSpPr txBox="1"/>
          <p:nvPr/>
        </p:nvSpPr>
        <p:spPr>
          <a:xfrm>
            <a:off x="258304" y="581186"/>
            <a:ext cx="11507491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 dirty="0">
                <a:ea typeface="ＭＳ Ｐゴシック"/>
              </a:rPr>
              <a:t>敵を倒してお金をゲット！</a:t>
            </a:r>
            <a:endParaRPr lang="en-US" altLang="ja-JP" sz="4400" dirty="0">
              <a:ea typeface="ＭＳ Ｐゴシック"/>
            </a:endParaRPr>
          </a:p>
          <a:p>
            <a:r>
              <a:rPr lang="ja-JP" altLang="en-US" sz="4400" dirty="0">
                <a:ea typeface="ＭＳ Ｐゴシック"/>
              </a:rPr>
              <a:t>↓</a:t>
            </a:r>
          </a:p>
          <a:p>
            <a:r>
              <a:rPr lang="ja-JP" altLang="en-US" sz="4400" dirty="0">
                <a:ea typeface="ＭＳ Ｐゴシック"/>
              </a:rPr>
              <a:t>各地のストアでパックを買ってデッキを強化！</a:t>
            </a:r>
          </a:p>
          <a:p>
            <a:r>
              <a:rPr lang="ja-JP" altLang="en-US" sz="4400" dirty="0">
                <a:ea typeface="ＭＳ Ｐゴシック"/>
              </a:rPr>
              <a:t>↓</a:t>
            </a:r>
          </a:p>
          <a:p>
            <a:r>
              <a:rPr lang="ja-JP" altLang="en-US" sz="4400" dirty="0">
                <a:ea typeface="ＭＳ Ｐゴシック"/>
              </a:rPr>
              <a:t>より強いカードで敵を倒そう！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CF9E3-3139-67B3-86C1-BE78EB3F1EF4}"/>
              </a:ext>
            </a:extLst>
          </p:cNvPr>
          <p:cNvSpPr txBox="1"/>
          <p:nvPr/>
        </p:nvSpPr>
        <p:spPr>
          <a:xfrm>
            <a:off x="439118" y="4365356"/>
            <a:ext cx="113395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一部のエリートエネミーからは特別なカードがゲットできるかも...?</a:t>
            </a:r>
            <a:endParaRPr lang="en-US" sz="3200">
              <a:ea typeface="ＭＳ Ｐゴシック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84FA25-756B-A9FB-8A6F-AA7F27E0DC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085" y="4950131"/>
            <a:ext cx="1901372" cy="190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4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179CBD-5BE5-D509-41A8-6930F4AA078C}"/>
              </a:ext>
            </a:extLst>
          </p:cNvPr>
          <p:cNvSpPr txBox="1"/>
          <p:nvPr/>
        </p:nvSpPr>
        <p:spPr>
          <a:xfrm>
            <a:off x="219559" y="271220"/>
            <a:ext cx="11249186" cy="9298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1FE4F-51E9-9BD2-B6C9-44FB6B554651}"/>
              </a:ext>
            </a:extLst>
          </p:cNvPr>
          <p:cNvSpPr txBox="1"/>
          <p:nvPr/>
        </p:nvSpPr>
        <p:spPr>
          <a:xfrm>
            <a:off x="492226" y="271220"/>
            <a:ext cx="105259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dirty="0">
                <a:ea typeface="ＭＳ Ｐゴシック"/>
              </a:rPr>
              <a:t>プレイイメージ</a:t>
            </a:r>
            <a:endParaRPr lang="en-US" sz="2800" dirty="0">
              <a:ea typeface="ＭＳ Ｐ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D49AC-C6B2-08CC-F0C3-607EA1B6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26" y="938092"/>
            <a:ext cx="9818588" cy="55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4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157</Words>
  <Application>Microsoft Office PowerPoint</Application>
  <PresentationFormat>ワイド画面</PresentationFormat>
  <Paragraphs>22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AsoHiroto</dc:creator>
  <cp:lastModifiedBy>麻生　大翔</cp:lastModifiedBy>
  <cp:revision>107</cp:revision>
  <dcterms:created xsi:type="dcterms:W3CDTF">2026-04-21T13:03:37Z</dcterms:created>
  <dcterms:modified xsi:type="dcterms:W3CDTF">2026-04-27T08:05:54Z</dcterms:modified>
</cp:coreProperties>
</file>